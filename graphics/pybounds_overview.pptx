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C24"/>
    <a:srgbClr val="1F8FFE"/>
    <a:srgbClr val="A50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0"/>
    <p:restoredTop sz="94654"/>
  </p:normalViewPr>
  <p:slideViewPr>
    <p:cSldViewPr snapToGrid="0">
      <p:cViewPr>
        <p:scale>
          <a:sx n="60" d="100"/>
          <a:sy n="60" d="100"/>
        </p:scale>
        <p:origin x="368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2095078"/>
            <a:ext cx="5440680" cy="4456853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6723804"/>
            <a:ext cx="4800600" cy="3090756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2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2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3191514"/>
            <a:ext cx="5520690" cy="5325109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8567000"/>
            <a:ext cx="5520690" cy="2800349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1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3407833"/>
            <a:ext cx="272034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3407833"/>
            <a:ext cx="272034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8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681570"/>
            <a:ext cx="552069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3138171"/>
            <a:ext cx="2707838" cy="1537969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4676140"/>
            <a:ext cx="2707838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3138171"/>
            <a:ext cx="2721174" cy="1537969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4676140"/>
            <a:ext cx="2721174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5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3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7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853440"/>
            <a:ext cx="2064425" cy="29870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1843196"/>
            <a:ext cx="3240405" cy="9097433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3840480"/>
            <a:ext cx="2064425" cy="7114964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5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853440"/>
            <a:ext cx="2064425" cy="29870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1843196"/>
            <a:ext cx="3240405" cy="9097433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3840480"/>
            <a:ext cx="2064425" cy="7114964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1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7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681567"/>
            <a:ext cx="1380173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681567"/>
            <a:ext cx="4060508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6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681570"/>
            <a:ext cx="552069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3407833"/>
            <a:ext cx="552069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11865189"/>
            <a:ext cx="14401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77299-9C25-EF47-A3CD-885C9D1B9D46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11865189"/>
            <a:ext cx="14401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6D34B-6F5B-4844-BB70-7495310BB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8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7CBFBBC-2C55-C7BF-6742-89E5F251B928}"/>
              </a:ext>
            </a:extLst>
          </p:cNvPr>
          <p:cNvSpPr txBox="1"/>
          <p:nvPr/>
        </p:nvSpPr>
        <p:spPr>
          <a:xfrm>
            <a:off x="1210648" y="1192376"/>
            <a:ext cx="4304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A503E2"/>
                </a:solidFill>
                <a:latin typeface="Garamond" panose="02020404030301010803" pitchFamily="18" charset="0"/>
              </a:rPr>
              <a:t>Input: user supplied knowledge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B74FAB-77DC-43E8-C778-76046BDB3384}"/>
              </a:ext>
            </a:extLst>
          </p:cNvPr>
          <p:cNvSpPr txBox="1"/>
          <p:nvPr/>
        </p:nvSpPr>
        <p:spPr>
          <a:xfrm>
            <a:off x="2428185" y="27163"/>
            <a:ext cx="1540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Question: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3B05FF-8926-0E52-9B1B-E75FD59F2D7B}"/>
              </a:ext>
            </a:extLst>
          </p:cNvPr>
          <p:cNvGrpSpPr/>
          <p:nvPr/>
        </p:nvGrpSpPr>
        <p:grpSpPr>
          <a:xfrm>
            <a:off x="96200" y="6040174"/>
            <a:ext cx="6218037" cy="1568827"/>
            <a:chOff x="96200" y="8911944"/>
            <a:chExt cx="6900396" cy="1600862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C1AABAF3-DCAC-EBDC-3E79-B8AFB964CE16}"/>
                </a:ext>
              </a:extLst>
            </p:cNvPr>
            <p:cNvSpPr/>
            <p:nvPr/>
          </p:nvSpPr>
          <p:spPr>
            <a:xfrm>
              <a:off x="224679" y="9501364"/>
              <a:ext cx="1361067" cy="912210"/>
            </a:xfrm>
            <a:prstGeom prst="roundRect">
              <a:avLst>
                <a:gd name="adj" fmla="val 9284"/>
              </a:avLst>
            </a:prstGeom>
            <a:solidFill>
              <a:srgbClr val="1F8FFE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32A5402-2943-3427-AC91-4F8AF8A758F5}"/>
                </a:ext>
              </a:extLst>
            </p:cNvPr>
            <p:cNvSpPr/>
            <p:nvPr/>
          </p:nvSpPr>
          <p:spPr>
            <a:xfrm>
              <a:off x="1938854" y="9501364"/>
              <a:ext cx="1093538" cy="912210"/>
            </a:xfrm>
            <a:prstGeom prst="roundRect">
              <a:avLst>
                <a:gd name="adj" fmla="val 9284"/>
              </a:avLst>
            </a:prstGeom>
            <a:solidFill>
              <a:srgbClr val="1F8FFE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61597179-C911-B6AA-DA2F-1F28CDBB5815}"/>
                </a:ext>
              </a:extLst>
            </p:cNvPr>
            <p:cNvSpPr/>
            <p:nvPr/>
          </p:nvSpPr>
          <p:spPr>
            <a:xfrm>
              <a:off x="3389393" y="9501364"/>
              <a:ext cx="1616400" cy="912210"/>
            </a:xfrm>
            <a:prstGeom prst="roundRect">
              <a:avLst>
                <a:gd name="adj" fmla="val 9284"/>
              </a:avLst>
            </a:prstGeom>
            <a:solidFill>
              <a:srgbClr val="1F8FFE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7E0F7954-37DD-9EB7-0DD0-321A50DB612A}"/>
                </a:ext>
              </a:extLst>
            </p:cNvPr>
            <p:cNvSpPr/>
            <p:nvPr/>
          </p:nvSpPr>
          <p:spPr>
            <a:xfrm>
              <a:off x="5351610" y="9501364"/>
              <a:ext cx="1516580" cy="912210"/>
            </a:xfrm>
            <a:prstGeom prst="roundRect">
              <a:avLst>
                <a:gd name="adj" fmla="val 9284"/>
              </a:avLst>
            </a:prstGeom>
            <a:solidFill>
              <a:srgbClr val="1F8FFE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FD5C67B-FE13-2D7A-BB05-B882922D58B6}"/>
                </a:ext>
              </a:extLst>
            </p:cNvPr>
            <p:cNvSpPr txBox="1"/>
            <p:nvPr/>
          </p:nvSpPr>
          <p:spPr>
            <a:xfrm>
              <a:off x="217585" y="9471390"/>
              <a:ext cx="1376524" cy="942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Model</a:t>
              </a:r>
            </a:p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Predictive</a:t>
              </a:r>
            </a:p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Control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F2BCAEF-F603-EFB9-A91A-ECB7871FC745}"/>
                </a:ext>
              </a:extLst>
            </p:cNvPr>
            <p:cNvSpPr txBox="1"/>
            <p:nvPr/>
          </p:nvSpPr>
          <p:spPr>
            <a:xfrm>
              <a:off x="1777594" y="9471390"/>
              <a:ext cx="1416061" cy="65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Control inputs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91F73DE-EBD8-C0F5-ACCB-E119D8870902}"/>
                </a:ext>
              </a:extLst>
            </p:cNvPr>
            <p:cNvSpPr txBox="1"/>
            <p:nvPr/>
          </p:nvSpPr>
          <p:spPr>
            <a:xfrm>
              <a:off x="5350743" y="9471390"/>
              <a:ext cx="1569287" cy="942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Empirical</a:t>
              </a:r>
            </a:p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Fisher </a:t>
              </a:r>
            </a:p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information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F63B843-8851-60E2-4A3A-14F5AE33CD4E}"/>
                </a:ext>
              </a:extLst>
            </p:cNvPr>
            <p:cNvSpPr txBox="1"/>
            <p:nvPr/>
          </p:nvSpPr>
          <p:spPr>
            <a:xfrm>
              <a:off x="3382820" y="9471390"/>
              <a:ext cx="1629547" cy="65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Numerical</a:t>
              </a:r>
            </a:p>
            <a:p>
              <a:pPr algn="ctr"/>
              <a:r>
                <a:rPr lang="en-US" b="1" dirty="0">
                  <a:solidFill>
                    <a:srgbClr val="1F8FFE"/>
                  </a:solidFill>
                </a:rPr>
                <a:t>simulations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BAD7C5B-8FBC-01ED-C01A-F4A9474EF95F}"/>
                </a:ext>
              </a:extLst>
            </p:cNvPr>
            <p:cNvSpPr txBox="1"/>
            <p:nvPr/>
          </p:nvSpPr>
          <p:spPr>
            <a:xfrm>
              <a:off x="149730" y="8911944"/>
              <a:ext cx="6762299" cy="471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1F8FFE"/>
                  </a:solidFill>
                  <a:latin typeface="Garamond" panose="02020404030301010803" pitchFamily="18" charset="0"/>
                </a:rPr>
                <a:t>pybounds</a:t>
              </a:r>
              <a:endParaRPr lang="en-US" sz="2400" dirty="0">
                <a:latin typeface="Garamond" panose="02020404030301010803" pitchFamily="18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210F0C0-E4B2-F252-F83D-782A48CA0D3D}"/>
                </a:ext>
              </a:extLst>
            </p:cNvPr>
            <p:cNvCxnSpPr/>
            <p:nvPr/>
          </p:nvCxnSpPr>
          <p:spPr>
            <a:xfrm>
              <a:off x="1585746" y="10033062"/>
              <a:ext cx="345956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45F73F0-CC11-C6BE-09EC-C139DAB7E1DC}"/>
                </a:ext>
              </a:extLst>
            </p:cNvPr>
            <p:cNvCxnSpPr/>
            <p:nvPr/>
          </p:nvCxnSpPr>
          <p:spPr>
            <a:xfrm>
              <a:off x="3032393" y="10033062"/>
              <a:ext cx="345956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79C421C-F744-5108-FAF1-74E1769A6E20}"/>
                </a:ext>
              </a:extLst>
            </p:cNvPr>
            <p:cNvCxnSpPr/>
            <p:nvPr/>
          </p:nvCxnSpPr>
          <p:spPr>
            <a:xfrm>
              <a:off x="5005791" y="10025812"/>
              <a:ext cx="345956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DE36986C-30D3-B7D3-7E19-183FE28A355C}"/>
                </a:ext>
              </a:extLst>
            </p:cNvPr>
            <p:cNvSpPr/>
            <p:nvPr/>
          </p:nvSpPr>
          <p:spPr>
            <a:xfrm>
              <a:off x="96200" y="9385839"/>
              <a:ext cx="6900396" cy="1126967"/>
            </a:xfrm>
            <a:prstGeom prst="roundRect">
              <a:avLst>
                <a:gd name="adj" fmla="val 9744"/>
              </a:avLst>
            </a:prstGeom>
            <a:noFill/>
            <a:ln w="38100">
              <a:solidFill>
                <a:srgbClr val="1F8F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38E2CE6-7B18-9393-763F-04F4BADF7FB0}"/>
              </a:ext>
            </a:extLst>
          </p:cNvPr>
          <p:cNvGrpSpPr/>
          <p:nvPr/>
        </p:nvGrpSpPr>
        <p:grpSpPr>
          <a:xfrm>
            <a:off x="96004" y="7804840"/>
            <a:ext cx="6297943" cy="2956983"/>
            <a:chOff x="96281" y="8359818"/>
            <a:chExt cx="5892285" cy="2766519"/>
          </a:xfrm>
        </p:grpSpPr>
        <p:pic>
          <p:nvPicPr>
            <p:cNvPr id="64" name="Picture 63" descr="A dotted line of a hand&#10;&#10;AI-generated content may be incorrect.">
              <a:extLst>
                <a:ext uri="{FF2B5EF4-FFF2-40B4-BE49-F238E27FC236}">
                  <a16:creationId xmlns:a16="http://schemas.microsoft.com/office/drawing/2014/main" id="{6D879A09-2D21-C164-C694-3450A8B89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7890"/>
            <a:stretch>
              <a:fillRect/>
            </a:stretch>
          </p:blipFill>
          <p:spPr>
            <a:xfrm>
              <a:off x="716735" y="9249938"/>
              <a:ext cx="2495746" cy="1767709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BF9757D-22D1-258A-EA42-95B4BFF0A9CE}"/>
                </a:ext>
              </a:extLst>
            </p:cNvPr>
            <p:cNvSpPr txBox="1"/>
            <p:nvPr/>
          </p:nvSpPr>
          <p:spPr>
            <a:xfrm>
              <a:off x="1879819" y="8793668"/>
              <a:ext cx="2494856" cy="34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for state: wind direction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084243B-DB10-AC16-9CDE-52D5BD93087E}"/>
                </a:ext>
              </a:extLst>
            </p:cNvPr>
            <p:cNvSpPr txBox="1"/>
            <p:nvPr/>
          </p:nvSpPr>
          <p:spPr>
            <a:xfrm>
              <a:off x="2287390" y="10833556"/>
              <a:ext cx="1205952" cy="243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200" dirty="0">
                  <a:solidFill>
                    <a:srgbClr val="FF0000"/>
                  </a:solidFill>
                </a:rPr>
                <a:t>heading turn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CB25DF-BA51-2343-A859-B029EB91367A}"/>
                </a:ext>
              </a:extLst>
            </p:cNvPr>
            <p:cNvSpPr txBox="1"/>
            <p:nvPr/>
          </p:nvSpPr>
          <p:spPr>
            <a:xfrm>
              <a:off x="688005" y="9001535"/>
              <a:ext cx="1562845" cy="399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200" dirty="0">
                  <a:solidFill>
                    <a:srgbClr val="FF0000"/>
                  </a:solidFill>
                </a:rPr>
                <a:t>turn through up/downwind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B365DDB-42A5-9088-BCB0-5FF4928B5C69}"/>
                </a:ext>
              </a:extLst>
            </p:cNvPr>
            <p:cNvSpPr txBox="1"/>
            <p:nvPr/>
          </p:nvSpPr>
          <p:spPr>
            <a:xfrm>
              <a:off x="2542523" y="9271355"/>
              <a:ext cx="832420" cy="399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200" dirty="0">
                  <a:solidFill>
                    <a:srgbClr val="FF0000"/>
                  </a:solidFill>
                </a:rPr>
                <a:t>course turn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59D69ED-9FD4-6490-966C-1C3CD2D15463}"/>
                </a:ext>
              </a:extLst>
            </p:cNvPr>
            <p:cNvSpPr txBox="1"/>
            <p:nvPr/>
          </p:nvSpPr>
          <p:spPr>
            <a:xfrm>
              <a:off x="256935" y="10251237"/>
              <a:ext cx="1562845" cy="243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200" dirty="0">
                  <a:solidFill>
                    <a:srgbClr val="FF0000"/>
                  </a:solidFill>
                </a:rPr>
                <a:t>deceleration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4D3B67C2-E08B-A74E-9745-24E7209E1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73" y="10053293"/>
              <a:ext cx="186244" cy="171822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F0466777-C5D0-5F8C-D2CB-07AFC3CC3A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5234" y="10491350"/>
              <a:ext cx="186244" cy="171822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3BE907D-11C8-730C-A131-E1CEAC6AB2E9}"/>
                </a:ext>
              </a:extLst>
            </p:cNvPr>
            <p:cNvSpPr txBox="1"/>
            <p:nvPr/>
          </p:nvSpPr>
          <p:spPr>
            <a:xfrm>
              <a:off x="546395" y="10670902"/>
              <a:ext cx="1562845" cy="243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sz="1200" dirty="0">
                  <a:solidFill>
                    <a:srgbClr val="FF0000"/>
                  </a:solidFill>
                </a:rPr>
                <a:t>acceleration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6142070-7E04-F874-6137-30482253E8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3811" y="10890369"/>
              <a:ext cx="294951" cy="7002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2C33C93-CA62-4E43-83C8-41FD6F28B0C2}"/>
                </a:ext>
              </a:extLst>
            </p:cNvPr>
            <p:cNvCxnSpPr>
              <a:cxnSpLocks/>
            </p:cNvCxnSpPr>
            <p:nvPr/>
          </p:nvCxnSpPr>
          <p:spPr>
            <a:xfrm>
              <a:off x="2812060" y="9662945"/>
              <a:ext cx="0" cy="28429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C145C19-3F31-F981-10C8-F168E6DE77D6}"/>
                </a:ext>
              </a:extLst>
            </p:cNvPr>
            <p:cNvCxnSpPr>
              <a:cxnSpLocks/>
            </p:cNvCxnSpPr>
            <p:nvPr/>
          </p:nvCxnSpPr>
          <p:spPr>
            <a:xfrm>
              <a:off x="1673531" y="9165906"/>
              <a:ext cx="224756" cy="14465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 descr="A close up of a sign&#10;&#10;AI-generated content may be incorrect.">
              <a:extLst>
                <a:ext uri="{FF2B5EF4-FFF2-40B4-BE49-F238E27FC236}">
                  <a16:creationId xmlns:a16="http://schemas.microsoft.com/office/drawing/2014/main" id="{C2C8D22A-EA75-151A-CCBF-F7F3B2BE2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250" t="4613" r="11447" b="58287"/>
            <a:stretch>
              <a:fillRect/>
            </a:stretch>
          </p:blipFill>
          <p:spPr>
            <a:xfrm rot="16200000">
              <a:off x="3086511" y="10029929"/>
              <a:ext cx="1587072" cy="168439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521B65C-FCB1-FE08-E505-00CA93931931}"/>
                </a:ext>
              </a:extLst>
            </p:cNvPr>
            <p:cNvSpPr txBox="1"/>
            <p:nvPr/>
          </p:nvSpPr>
          <p:spPr>
            <a:xfrm>
              <a:off x="3906421" y="9818801"/>
              <a:ext cx="917624" cy="721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dirty="0">
                  <a:latin typeface="Garamond" panose="02020404030301010803" pitchFamily="18" charset="0"/>
                </a:rPr>
                <a:t>min.</a:t>
              </a:r>
            </a:p>
            <a:p>
              <a:pPr>
                <a:lnSpc>
                  <a:spcPts val="1600"/>
                </a:lnSpc>
              </a:pPr>
              <a:r>
                <a:rPr lang="en-US" dirty="0">
                  <a:latin typeface="Garamond" panose="02020404030301010803" pitchFamily="18" charset="0"/>
                </a:rPr>
                <a:t>error</a:t>
              </a:r>
            </a:p>
            <a:p>
              <a:pPr>
                <a:lnSpc>
                  <a:spcPts val="1600"/>
                </a:lnSpc>
              </a:pPr>
              <a:r>
                <a:rPr lang="en-US" dirty="0">
                  <a:latin typeface="Garamond" panose="02020404030301010803" pitchFamily="18" charset="0"/>
                </a:rPr>
                <a:t>variance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E543D29-8D0D-9AD5-102B-62FC48E9B252}"/>
                </a:ext>
              </a:extLst>
            </p:cNvPr>
            <p:cNvSpPr txBox="1"/>
            <p:nvPr/>
          </p:nvSpPr>
          <p:spPr>
            <a:xfrm>
              <a:off x="3906421" y="10691410"/>
              <a:ext cx="1795620" cy="310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b="1" dirty="0">
                  <a:latin typeface="Garamond" panose="02020404030301010803" pitchFamily="18" charset="0"/>
                </a:rPr>
                <a:t>more observable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02E8FFA-0538-8707-DCD2-25B2FC190804}"/>
                </a:ext>
              </a:extLst>
            </p:cNvPr>
            <p:cNvSpPr txBox="1"/>
            <p:nvPr/>
          </p:nvSpPr>
          <p:spPr>
            <a:xfrm>
              <a:off x="3906421" y="9294651"/>
              <a:ext cx="1649106" cy="310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b="1" dirty="0">
                  <a:latin typeface="Garamond" panose="02020404030301010803" pitchFamily="18" charset="0"/>
                </a:rPr>
                <a:t>less observable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17B6033C-27F9-C518-2E6D-7074C106C9F2}"/>
                </a:ext>
              </a:extLst>
            </p:cNvPr>
            <p:cNvSpPr/>
            <p:nvPr/>
          </p:nvSpPr>
          <p:spPr>
            <a:xfrm>
              <a:off x="100263" y="8793668"/>
              <a:ext cx="5808095" cy="2332669"/>
            </a:xfrm>
            <a:prstGeom prst="roundRect">
              <a:avLst>
                <a:gd name="adj" fmla="val 4241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0B758E6-143A-5C18-AA88-9103363AE31E}"/>
                </a:ext>
              </a:extLst>
            </p:cNvPr>
            <p:cNvSpPr txBox="1"/>
            <p:nvPr/>
          </p:nvSpPr>
          <p:spPr>
            <a:xfrm>
              <a:off x="96281" y="8359818"/>
              <a:ext cx="5892285" cy="431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Garamond" panose="02020404030301010803" pitchFamily="18" charset="0"/>
                </a:rPr>
                <a:t>Output: individual state observability over time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296A648-2702-E70F-9F62-8FF0AFC41D2D}"/>
              </a:ext>
            </a:extLst>
          </p:cNvPr>
          <p:cNvGrpSpPr/>
          <p:nvPr/>
        </p:nvGrpSpPr>
        <p:grpSpPr>
          <a:xfrm>
            <a:off x="2616017" y="9982353"/>
            <a:ext cx="542680" cy="276999"/>
            <a:chOff x="2191333" y="5605273"/>
            <a:chExt cx="542680" cy="276999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A43487A-40B1-0501-575A-D90DDC12A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1333" y="5830273"/>
              <a:ext cx="43636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9E46BA8-1F21-860C-872B-E3A4EB379E83}"/>
                </a:ext>
              </a:extLst>
            </p:cNvPr>
            <p:cNvSpPr txBox="1"/>
            <p:nvPr/>
          </p:nvSpPr>
          <p:spPr>
            <a:xfrm>
              <a:off x="2230349" y="5605273"/>
              <a:ext cx="5036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</a:rPr>
                <a:t>wind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F9A747F-90BD-CA6A-4BEB-9785AAFE6F4F}"/>
              </a:ext>
            </a:extLst>
          </p:cNvPr>
          <p:cNvSpPr txBox="1"/>
          <p:nvPr/>
        </p:nvSpPr>
        <p:spPr>
          <a:xfrm>
            <a:off x="90179" y="453894"/>
            <a:ext cx="6218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aramond" panose="02020404030301010803" pitchFamily="18" charset="0"/>
              </a:rPr>
              <a:t>Which movement motifs allow flying agents to estimate wind direction given measurements of orientation, airflow angle, and ventral optic flow angle?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74C0EDA-BEA7-3E75-952A-48FDECF007B7}"/>
              </a:ext>
            </a:extLst>
          </p:cNvPr>
          <p:cNvSpPr txBox="1"/>
          <p:nvPr/>
        </p:nvSpPr>
        <p:spPr>
          <a:xfrm>
            <a:off x="2539037" y="10958898"/>
            <a:ext cx="1304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Answer: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DD3FAB0-6764-14BC-9CFB-CBE0B804CEEF}"/>
              </a:ext>
            </a:extLst>
          </p:cNvPr>
          <p:cNvSpPr txBox="1"/>
          <p:nvPr/>
        </p:nvSpPr>
        <p:spPr>
          <a:xfrm>
            <a:off x="91382" y="11346826"/>
            <a:ext cx="6218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aramond" panose="02020404030301010803" pitchFamily="18" charset="0"/>
              </a:rPr>
              <a:t>Changes in the direction of movement are required for this system.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4C9FBE8-4049-3E5C-CC55-85E1E75B7714}"/>
              </a:ext>
            </a:extLst>
          </p:cNvPr>
          <p:cNvCxnSpPr>
            <a:cxnSpLocks/>
          </p:cNvCxnSpPr>
          <p:nvPr/>
        </p:nvCxnSpPr>
        <p:spPr>
          <a:xfrm>
            <a:off x="3200400" y="5937481"/>
            <a:ext cx="0" cy="278165"/>
          </a:xfrm>
          <a:prstGeom prst="straightConnector1">
            <a:avLst/>
          </a:prstGeom>
          <a:ln w="57150">
            <a:solidFill>
              <a:srgbClr val="A502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EA42911-F9C1-D073-7B53-E4AC501C10F7}"/>
              </a:ext>
            </a:extLst>
          </p:cNvPr>
          <p:cNvCxnSpPr>
            <a:cxnSpLocks/>
          </p:cNvCxnSpPr>
          <p:nvPr/>
        </p:nvCxnSpPr>
        <p:spPr>
          <a:xfrm>
            <a:off x="3200400" y="7609001"/>
            <a:ext cx="0" cy="278165"/>
          </a:xfrm>
          <a:prstGeom prst="straightConnector1">
            <a:avLst/>
          </a:prstGeom>
          <a:ln w="57150">
            <a:solidFill>
              <a:srgbClr val="1F8FF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417DEA0-132D-8F8A-79DC-8FAFD3EAED34}"/>
              </a:ext>
            </a:extLst>
          </p:cNvPr>
          <p:cNvCxnSpPr>
            <a:cxnSpLocks/>
          </p:cNvCxnSpPr>
          <p:nvPr/>
        </p:nvCxnSpPr>
        <p:spPr>
          <a:xfrm>
            <a:off x="3200400" y="10773805"/>
            <a:ext cx="0" cy="278165"/>
          </a:xfrm>
          <a:prstGeom prst="straightConnector1">
            <a:avLst/>
          </a:prstGeom>
          <a:ln w="57150">
            <a:solidFill>
              <a:srgbClr val="3B7C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501BD6B-6BFC-DE8C-0EF8-F2FDD565AF25}"/>
              </a:ext>
            </a:extLst>
          </p:cNvPr>
          <p:cNvCxnSpPr>
            <a:cxnSpLocks/>
          </p:cNvCxnSpPr>
          <p:nvPr/>
        </p:nvCxnSpPr>
        <p:spPr>
          <a:xfrm>
            <a:off x="3200400" y="1022597"/>
            <a:ext cx="0" cy="2781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0E19226B-DE95-1E3C-09D8-F55DC69EF295}"/>
              </a:ext>
            </a:extLst>
          </p:cNvPr>
          <p:cNvSpPr/>
          <p:nvPr/>
        </p:nvSpPr>
        <p:spPr>
          <a:xfrm>
            <a:off x="93189" y="11354182"/>
            <a:ext cx="6214422" cy="338554"/>
          </a:xfrm>
          <a:prstGeom prst="roundRect">
            <a:avLst>
              <a:gd name="adj" fmla="val 295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2CE396-ACB5-2C06-A3F5-78D776C3DB2A}"/>
              </a:ext>
            </a:extLst>
          </p:cNvPr>
          <p:cNvGrpSpPr/>
          <p:nvPr/>
        </p:nvGrpSpPr>
        <p:grpSpPr>
          <a:xfrm>
            <a:off x="96200" y="1649585"/>
            <a:ext cx="6218037" cy="4335385"/>
            <a:chOff x="96200" y="1649585"/>
            <a:chExt cx="6218037" cy="4335385"/>
          </a:xfrm>
        </p:grpSpPr>
        <p:pic>
          <p:nvPicPr>
            <p:cNvPr id="34" name="Picture 33" descr="A math equations and formulas&#10;&#10;AI-generated content may be incorrect.">
              <a:extLst>
                <a:ext uri="{FF2B5EF4-FFF2-40B4-BE49-F238E27FC236}">
                  <a16:creationId xmlns:a16="http://schemas.microsoft.com/office/drawing/2014/main" id="{0B70060C-CC0C-291E-AB93-174CEC05E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152"/>
            <a:stretch>
              <a:fillRect/>
            </a:stretch>
          </p:blipFill>
          <p:spPr>
            <a:xfrm>
              <a:off x="943063" y="2080454"/>
              <a:ext cx="1607947" cy="108297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186C37-2C7C-F92A-7264-E3DF25C708FA}"/>
                </a:ext>
              </a:extLst>
            </p:cNvPr>
            <p:cNvSpPr txBox="1"/>
            <p:nvPr/>
          </p:nvSpPr>
          <p:spPr>
            <a:xfrm>
              <a:off x="132154" y="3222753"/>
              <a:ext cx="4543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rgbClr val="A503E2"/>
                  </a:solidFill>
                </a:rPr>
                <a:t>2. Measurement model:</a:t>
              </a:r>
              <a:r>
                <a:rPr lang="en-US" sz="2000" b="1" dirty="0">
                  <a:solidFill>
                    <a:srgbClr val="A503E2"/>
                  </a:solidFill>
                </a:rPr>
                <a:t> h(</a:t>
              </a:r>
              <a:r>
                <a:rPr lang="en-US" sz="2000" b="1" dirty="0" err="1">
                  <a:solidFill>
                    <a:srgbClr val="A503E2"/>
                  </a:solidFill>
                </a:rPr>
                <a:t>x,u</a:t>
              </a:r>
              <a:r>
                <a:rPr lang="en-US" sz="2000" b="1" dirty="0">
                  <a:solidFill>
                    <a:srgbClr val="A503E2"/>
                  </a:solidFill>
                </a:rPr>
                <a:t>)</a:t>
              </a:r>
              <a:r>
                <a:rPr lang="en-US" sz="2000" b="1" u="sng" dirty="0">
                  <a:solidFill>
                    <a:srgbClr val="A503E2"/>
                  </a:solidFill>
                </a:rPr>
                <a:t> </a:t>
              </a:r>
              <a:endParaRPr lang="en-US" sz="2000" i="1" u="sng" dirty="0">
                <a:solidFill>
                  <a:srgbClr val="A503E2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47C778-1D01-CCA0-040E-3907F8E39DE0}"/>
                </a:ext>
              </a:extLst>
            </p:cNvPr>
            <p:cNvSpPr txBox="1"/>
            <p:nvPr/>
          </p:nvSpPr>
          <p:spPr>
            <a:xfrm>
              <a:off x="132154" y="1662958"/>
              <a:ext cx="31357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u="sng" dirty="0">
                  <a:solidFill>
                    <a:srgbClr val="A503E2"/>
                  </a:solidFill>
                </a:rPr>
                <a:t>1. Dynamics model:</a:t>
              </a:r>
              <a:r>
                <a:rPr lang="en-US" sz="2000" b="1" dirty="0">
                  <a:solidFill>
                    <a:srgbClr val="A503E2"/>
                  </a:solidFill>
                </a:rPr>
                <a:t> f(</a:t>
              </a:r>
              <a:r>
                <a:rPr lang="en-US" sz="2000" b="1" dirty="0" err="1">
                  <a:solidFill>
                    <a:srgbClr val="A503E2"/>
                  </a:solidFill>
                </a:rPr>
                <a:t>x,u</a:t>
              </a:r>
              <a:r>
                <a:rPr lang="en-US" sz="2000" b="1" dirty="0">
                  <a:solidFill>
                    <a:srgbClr val="A503E2"/>
                  </a:solidFill>
                </a:rPr>
                <a:t>)</a:t>
              </a:r>
            </a:p>
          </p:txBody>
        </p:sp>
        <p:pic>
          <p:nvPicPr>
            <p:cNvPr id="21" name="Picture 20" descr="A black arrow pointing at something&#10;&#10;AI-generated content may be incorrect.">
              <a:extLst>
                <a:ext uri="{FF2B5EF4-FFF2-40B4-BE49-F238E27FC236}">
                  <a16:creationId xmlns:a16="http://schemas.microsoft.com/office/drawing/2014/main" id="{CED14722-2627-A3D0-D0B2-3C0D2AB2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7799" y="4937238"/>
              <a:ext cx="1260778" cy="999196"/>
            </a:xfrm>
            <a:prstGeom prst="rect">
              <a:avLst/>
            </a:prstGeom>
          </p:spPr>
        </p:pic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9781C6E-3131-EC74-27CA-E58F5B15D8D1}"/>
                </a:ext>
              </a:extLst>
            </p:cNvPr>
            <p:cNvSpPr/>
            <p:nvPr/>
          </p:nvSpPr>
          <p:spPr>
            <a:xfrm>
              <a:off x="96200" y="1649585"/>
              <a:ext cx="6218037" cy="4301565"/>
            </a:xfrm>
            <a:prstGeom prst="roundRect">
              <a:avLst>
                <a:gd name="adj" fmla="val 3794"/>
              </a:avLst>
            </a:prstGeom>
            <a:noFill/>
            <a:ln w="38100">
              <a:solidFill>
                <a:srgbClr val="A503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1E6692A-5F9B-E729-295F-0FBEB79A119A}"/>
                </a:ext>
              </a:extLst>
            </p:cNvPr>
            <p:cNvSpPr txBox="1"/>
            <p:nvPr/>
          </p:nvSpPr>
          <p:spPr>
            <a:xfrm>
              <a:off x="2672050" y="246313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--- OR ---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018EFF-C4C3-D64B-9836-37C5C591EE70}"/>
                </a:ext>
              </a:extLst>
            </p:cNvPr>
            <p:cNvSpPr txBox="1"/>
            <p:nvPr/>
          </p:nvSpPr>
          <p:spPr>
            <a:xfrm>
              <a:off x="132154" y="2000048"/>
              <a:ext cx="11579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(a) analytic model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699877-A933-8D7E-8624-29AA2E53C6AA}"/>
                </a:ext>
              </a:extLst>
            </p:cNvPr>
            <p:cNvSpPr txBox="1"/>
            <p:nvPr/>
          </p:nvSpPr>
          <p:spPr>
            <a:xfrm>
              <a:off x="2672050" y="3807488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--- OR ---</a:t>
              </a:r>
            </a:p>
          </p:txBody>
        </p:sp>
        <p:pic>
          <p:nvPicPr>
            <p:cNvPr id="36" name="Picture 35" descr="A math equations with numbers and symbols&#10;&#10;AI-generated content may be incorrect.">
              <a:extLst>
                <a:ext uri="{FF2B5EF4-FFF2-40B4-BE49-F238E27FC236}">
                  <a16:creationId xmlns:a16="http://schemas.microsoft.com/office/drawing/2014/main" id="{932911A5-622A-AACF-B680-907CE503B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130"/>
            <a:stretch>
              <a:fillRect/>
            </a:stretch>
          </p:blipFill>
          <p:spPr>
            <a:xfrm>
              <a:off x="400502" y="3794824"/>
              <a:ext cx="2081679" cy="646759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7DCCC43-4F1C-232F-E555-7859D8EA79C3}"/>
                </a:ext>
              </a:extLst>
            </p:cNvPr>
            <p:cNvSpPr txBox="1"/>
            <p:nvPr/>
          </p:nvSpPr>
          <p:spPr>
            <a:xfrm>
              <a:off x="132154" y="4489118"/>
              <a:ext cx="4543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rgbClr val="A503E2"/>
                  </a:solidFill>
                </a:rPr>
                <a:t>3. State trajectory:</a:t>
              </a:r>
              <a:r>
                <a:rPr lang="en-US" sz="2000" b="1" dirty="0">
                  <a:solidFill>
                    <a:srgbClr val="A503E2"/>
                  </a:solidFill>
                </a:rPr>
                <a:t> x over time</a:t>
              </a:r>
              <a:endParaRPr lang="en-US" sz="2000" u="sng" dirty="0">
                <a:solidFill>
                  <a:srgbClr val="A503E2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B6346A6-5A73-B5E6-3258-389C604EF075}"/>
                </a:ext>
              </a:extLst>
            </p:cNvPr>
            <p:cNvSpPr txBox="1"/>
            <p:nvPr/>
          </p:nvSpPr>
          <p:spPr>
            <a:xfrm>
              <a:off x="132154" y="4889007"/>
              <a:ext cx="13877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(a) simulated trajectory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37027B5-3184-C3C9-E319-27FD7D923B1D}"/>
                </a:ext>
              </a:extLst>
            </p:cNvPr>
            <p:cNvSpPr txBox="1"/>
            <p:nvPr/>
          </p:nvSpPr>
          <p:spPr>
            <a:xfrm>
              <a:off x="2672050" y="5121923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--- OR ---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8CAE3D2-73D5-C1EB-7245-880C0ED931DA}"/>
                </a:ext>
              </a:extLst>
            </p:cNvPr>
            <p:cNvGrpSpPr/>
            <p:nvPr/>
          </p:nvGrpSpPr>
          <p:grpSpPr>
            <a:xfrm>
              <a:off x="3808734" y="4500732"/>
              <a:ext cx="2445148" cy="1484238"/>
              <a:chOff x="3728749" y="4500732"/>
              <a:chExt cx="2445148" cy="1484238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6B48D-A981-2426-870B-1A999E498AF8}"/>
                  </a:ext>
                </a:extLst>
              </p:cNvPr>
              <p:cNvSpPr txBox="1"/>
              <p:nvPr/>
            </p:nvSpPr>
            <p:spPr>
              <a:xfrm>
                <a:off x="3728749" y="4844924"/>
                <a:ext cx="21904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(b) measured trajectory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F6E17DD-9244-EE38-D506-741CB61D48B0}"/>
                  </a:ext>
                </a:extLst>
              </p:cNvPr>
              <p:cNvGrpSpPr/>
              <p:nvPr/>
            </p:nvGrpSpPr>
            <p:grpSpPr>
              <a:xfrm rot="4589551">
                <a:off x="4238811" y="4049884"/>
                <a:ext cx="1484238" cy="2385934"/>
                <a:chOff x="-2961318" y="2304930"/>
                <a:chExt cx="2436633" cy="3916922"/>
              </a:xfrm>
            </p:grpSpPr>
            <p:pic>
              <p:nvPicPr>
                <p:cNvPr id="43" name="Picture 42" descr="A screenshot of a computer screen&#10;&#10;Description automatically generated">
                  <a:extLst>
                    <a:ext uri="{FF2B5EF4-FFF2-40B4-BE49-F238E27FC236}">
                      <a16:creationId xmlns:a16="http://schemas.microsoft.com/office/drawing/2014/main" id="{963B435F-54D2-D678-EEFD-C0DDAEA7E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-1" r="68897"/>
                <a:stretch/>
              </p:blipFill>
              <p:spPr>
                <a:xfrm>
                  <a:off x="-2961318" y="2304930"/>
                  <a:ext cx="2436633" cy="3916922"/>
                </a:xfrm>
                <a:prstGeom prst="rect">
                  <a:avLst/>
                </a:prstGeom>
              </p:spPr>
            </p:pic>
            <p:pic>
              <p:nvPicPr>
                <p:cNvPr id="47" name="Picture 46" descr="A black and white image of a bee&#10;&#10;Description automatically generated">
                  <a:extLst>
                    <a:ext uri="{FF2B5EF4-FFF2-40B4-BE49-F238E27FC236}">
                      <a16:creationId xmlns:a16="http://schemas.microsoft.com/office/drawing/2014/main" id="{30DE0D03-B1EA-8D6E-5CEA-AE2657F822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15965425">
                  <a:off x="-1840362" y="5516919"/>
                  <a:ext cx="654882" cy="736742"/>
                </a:xfrm>
                <a:prstGeom prst="rect">
                  <a:avLst/>
                </a:prstGeom>
              </p:spPr>
            </p:pic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F4E0C4-7712-7349-2763-E5380DCCCBDB}"/>
                </a:ext>
              </a:extLst>
            </p:cNvPr>
            <p:cNvSpPr txBox="1"/>
            <p:nvPr/>
          </p:nvSpPr>
          <p:spPr>
            <a:xfrm>
              <a:off x="132154" y="3562756"/>
              <a:ext cx="15760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(b) analytic model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8AB152F-0D6B-4EDF-6513-6F0B0D57E5EB}"/>
                </a:ext>
              </a:extLst>
            </p:cNvPr>
            <p:cNvGrpSpPr/>
            <p:nvPr/>
          </p:nvGrpSpPr>
          <p:grpSpPr>
            <a:xfrm>
              <a:off x="2127558" y="5594502"/>
              <a:ext cx="542680" cy="276999"/>
              <a:chOff x="2191333" y="5605273"/>
              <a:chExt cx="542680" cy="276999"/>
            </a:xfrm>
          </p:grpSpPr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54ADF4D-5212-E3A0-005A-0397CC9409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1333" y="5830273"/>
                <a:ext cx="436364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64A93A8-6C2E-D814-C3C9-DAC9E491EFDB}"/>
                  </a:ext>
                </a:extLst>
              </p:cNvPr>
              <p:cNvSpPr txBox="1"/>
              <p:nvPr/>
            </p:nvSpPr>
            <p:spPr>
              <a:xfrm>
                <a:off x="2230349" y="5605273"/>
                <a:ext cx="5036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wind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19AB2D5-7232-5591-30AB-3AEB9661549E}"/>
                </a:ext>
              </a:extLst>
            </p:cNvPr>
            <p:cNvGrpSpPr/>
            <p:nvPr/>
          </p:nvGrpSpPr>
          <p:grpSpPr>
            <a:xfrm>
              <a:off x="3843433" y="1942017"/>
              <a:ext cx="2316192" cy="1185194"/>
              <a:chOff x="3921841" y="1942017"/>
              <a:chExt cx="2316192" cy="1185194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27DF538-5345-4509-9DFD-53A031D6D108}"/>
                  </a:ext>
                </a:extLst>
              </p:cNvPr>
              <p:cNvSpPr txBox="1"/>
              <p:nvPr/>
            </p:nvSpPr>
            <p:spPr>
              <a:xfrm>
                <a:off x="3921841" y="1942017"/>
                <a:ext cx="21056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(b) empirical model</a:t>
                </a:r>
              </a:p>
            </p:txBody>
          </p:sp>
          <p:pic>
            <p:nvPicPr>
              <p:cNvPr id="28" name="Picture 27" descr="A close up of a fly&#10;&#10;AI-generated content may be incorrect.">
                <a:extLst>
                  <a:ext uri="{FF2B5EF4-FFF2-40B4-BE49-F238E27FC236}">
                    <a16:creationId xmlns:a16="http://schemas.microsoft.com/office/drawing/2014/main" id="{80A3A1C9-5AC4-537A-38F8-774F68A156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12228" t="24745" r="23330" b="8183"/>
              <a:stretch>
                <a:fillRect/>
              </a:stretch>
            </p:blipFill>
            <p:spPr>
              <a:xfrm>
                <a:off x="4014874" y="2217250"/>
                <a:ext cx="1405538" cy="909961"/>
              </a:xfrm>
              <a:prstGeom prst="rect">
                <a:avLst/>
              </a:prstGeom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92758E4-9A12-1C66-134C-C9DC7A0B813C}"/>
                  </a:ext>
                </a:extLst>
              </p:cNvPr>
              <p:cNvSpPr txBox="1"/>
              <p:nvPr/>
            </p:nvSpPr>
            <p:spPr>
              <a:xfrm>
                <a:off x="5368843" y="2356294"/>
                <a:ext cx="86919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e.g. physics simulator</a:t>
                </a: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0B33CF6-3D2A-08B8-0CAF-4AC51AC25D18}"/>
                </a:ext>
              </a:extLst>
            </p:cNvPr>
            <p:cNvGrpSpPr/>
            <p:nvPr/>
          </p:nvGrpSpPr>
          <p:grpSpPr>
            <a:xfrm>
              <a:off x="3813427" y="3555359"/>
              <a:ext cx="2424606" cy="1033135"/>
              <a:chOff x="3825430" y="3555359"/>
              <a:chExt cx="2424606" cy="1033135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0F58D9-8FFB-8466-0B2D-030D87447663}"/>
                  </a:ext>
                </a:extLst>
              </p:cNvPr>
              <p:cNvSpPr txBox="1"/>
              <p:nvPr/>
            </p:nvSpPr>
            <p:spPr>
              <a:xfrm>
                <a:off x="3825430" y="3555359"/>
                <a:ext cx="21056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(b) empirical model</a:t>
                </a:r>
              </a:p>
            </p:txBody>
          </p:sp>
          <p:pic>
            <p:nvPicPr>
              <p:cNvPr id="115" name="Picture 114" descr="A diagram of a network&#10;&#10;AI-generated content may be incorrect.">
                <a:extLst>
                  <a:ext uri="{FF2B5EF4-FFF2-40B4-BE49-F238E27FC236}">
                    <a16:creationId xmlns:a16="http://schemas.microsoft.com/office/drawing/2014/main" id="{8327722E-51D9-04B5-2136-B14B83B16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70358" y="3800367"/>
                <a:ext cx="1597177" cy="788127"/>
              </a:xfrm>
              <a:prstGeom prst="rect">
                <a:avLst/>
              </a:prstGeom>
            </p:spPr>
          </p:pic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DD7E4E8-EAD8-BB2F-9541-2175DB67A9B6}"/>
                  </a:ext>
                </a:extLst>
              </p:cNvPr>
              <p:cNvSpPr txBox="1"/>
              <p:nvPr/>
            </p:nvSpPr>
            <p:spPr>
              <a:xfrm>
                <a:off x="5433291" y="3717931"/>
                <a:ext cx="8167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e.g. neural encoding model</a:t>
                </a:r>
              </a:p>
            </p:txBody>
          </p:sp>
        </p:grpSp>
      </p:grp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8AD06B0-3E40-1C93-7FB8-3484EDC00357}"/>
              </a:ext>
            </a:extLst>
          </p:cNvPr>
          <p:cNvSpPr/>
          <p:nvPr/>
        </p:nvSpPr>
        <p:spPr>
          <a:xfrm>
            <a:off x="93189" y="454602"/>
            <a:ext cx="6214422" cy="578331"/>
          </a:xfrm>
          <a:prstGeom prst="roundRect">
            <a:avLst>
              <a:gd name="adj" fmla="val 295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4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171</Words>
  <Application>Microsoft Macintosh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Floris Van Breugel</dc:creator>
  <cp:lastModifiedBy>Floris Van Breugel</cp:lastModifiedBy>
  <cp:revision>1</cp:revision>
  <dcterms:created xsi:type="dcterms:W3CDTF">2026-01-30T18:42:02Z</dcterms:created>
  <dcterms:modified xsi:type="dcterms:W3CDTF">2026-01-30T19:19:03Z</dcterms:modified>
</cp:coreProperties>
</file>